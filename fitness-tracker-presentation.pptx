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274320"/>
            <a:ext cx="2926080" cy="2926080"/>
          </a:xfrm>
          <a:prstGeom prst="ellipse">
            <a:avLst/>
          </a:prstGeom>
          <a:solidFill>
            <a:srgbClr val="40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4389120"/>
            <a:ext cx="3383280" cy="3383280"/>
          </a:xfrm>
          <a:prstGeom prst="ellipse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0080" y="4754880"/>
            <a:ext cx="2194560" cy="2194560"/>
          </a:xfrm>
          <a:prstGeom prst="ellipse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ptos Display"/>
              </a:rPr>
              <a:t>Health &amp; Fitness Tracker</a:t>
            </a:r>
          </a:p>
          <a:p>
            <a:pPr>
              <a:spcBef>
                <a:spcPts val="1200"/>
              </a:spcBef>
              <a:defRPr sz="1600">
                <a:solidFill>
                  <a:srgbClr val="B6C2D0"/>
                </a:solidFill>
                <a:latin typeface="Aptos"/>
              </a:defRPr>
            </a:pPr>
            <a:r>
              <a:t>A cool presentation on the project that tracks workouts, water, sleep, recovery, and Excel exports.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2011680" cy="502920"/>
          </a:xfrm>
          <a:prstGeom prst="roundRect">
            <a:avLst/>
          </a:prstGeom>
          <a:solidFill>
            <a:srgbClr val="40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907792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latin typeface="Aptos"/>
              </a:defRPr>
            </a:pPr>
            <a:r>
              <a:t>Project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03320"/>
            <a:ext cx="6217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5F8FC"/>
                </a:solidFill>
                <a:latin typeface="Aptos"/>
              </a:defRPr>
            </a:pPr>
            <a:r>
              <a:t>Tracks 100 sample records with live charts, recovery calculations, and Excel export/update features.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55080"/>
            <a:ext cx="11155680" cy="18288"/>
          </a:xfrm>
          <a:prstGeom prst="rect">
            <a:avLst/>
          </a:prstGeom>
          <a:solidFill>
            <a:srgbClr val="283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6C2D0"/>
                </a:solidFill>
                <a:latin typeface="Aptos"/>
              </a:defRPr>
            </a:pPr>
            <a:r>
              <a:t>Health &amp; Fitness Tracker |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40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Project Overview</a:t>
            </a:r>
          </a:p>
          <a:p>
            <a:pPr>
              <a:spcBef>
                <a:spcPts val="400"/>
              </a:spcBef>
              <a:defRPr sz="1200">
                <a:solidFill>
                  <a:srgbClr val="B6C2D0"/>
                </a:solidFill>
                <a:latin typeface="Aptos"/>
              </a:defRPr>
            </a:pPr>
            <a:r>
              <a:t>One dashboard, one workflow, multiple health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97280"/>
            <a:ext cx="5532120" cy="4754880"/>
          </a:xfrm>
          <a:prstGeom prst="roundRect">
            <a:avLst/>
          </a:prstGeom>
          <a:solidFill>
            <a:srgbClr val="121C30"/>
          </a:solidFill>
          <a:ln w="13970">
            <a:solidFill>
              <a:srgbClr val="2C3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097280"/>
            <a:ext cx="137160" cy="4754880"/>
          </a:xfrm>
          <a:prstGeom prst="roundRect">
            <a:avLst/>
          </a:prstGeom>
          <a:solidFill>
            <a:srgbClr val="40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61872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 Display"/>
              </a:rPr>
              <a:t>What the app does</a:t>
            </a:r>
          </a:p>
          <a:p>
            <a:pPr>
              <a:spcBef>
                <a:spcPts val="800"/>
              </a:spcBef>
              <a:defRPr sz="1200">
                <a:solidFill>
                  <a:srgbClr val="F5F8FC"/>
                </a:solidFill>
                <a:latin typeface="Aptos"/>
              </a:defRPr>
            </a:pPr>
            <a:r>
              <a:t>Logs daily fitness data: exercise, duration, water, sleep, and recovery.</a:t>
            </a:r>
          </a:p>
          <a:p>
            <a:pPr>
              <a:spcBef>
                <a:spcPts val="800"/>
              </a:spcBef>
              <a:defRPr sz="1200">
                <a:solidFill>
                  <a:srgbClr val="F5F8FC"/>
                </a:solidFill>
                <a:latin typeface="Aptos"/>
              </a:defRPr>
            </a:pPr>
            <a:r>
              <a:t>Auto-calculates calories based on exercise type and duration.</a:t>
            </a:r>
          </a:p>
          <a:p>
            <a:pPr>
              <a:spcBef>
                <a:spcPts val="800"/>
              </a:spcBef>
              <a:defRPr sz="1200">
                <a:solidFill>
                  <a:srgbClr val="F5F8FC"/>
                </a:solidFill>
                <a:latin typeface="Aptos"/>
              </a:defRPr>
            </a:pPr>
            <a:r>
              <a:t>Auto-calculates recovery % from sleep hours.</a:t>
            </a:r>
          </a:p>
          <a:p>
            <a:pPr>
              <a:spcBef>
                <a:spcPts val="800"/>
              </a:spcBef>
              <a:defRPr sz="1200">
                <a:solidFill>
                  <a:srgbClr val="F5F8FC"/>
                </a:solidFill>
                <a:latin typeface="Aptos"/>
              </a:defRPr>
            </a:pPr>
            <a:r>
              <a:t>Shows live charts for all major metrics.</a:t>
            </a:r>
          </a:p>
          <a:p>
            <a:pPr>
              <a:spcBef>
                <a:spcPts val="800"/>
              </a:spcBef>
              <a:defRPr sz="1200">
                <a:solidFill>
                  <a:srgbClr val="F5F8FC"/>
                </a:solidFill>
                <a:latin typeface="Aptos"/>
              </a:defRPr>
            </a:pPr>
            <a:r>
              <a:t>Exports and updates data in Excel format.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097280"/>
            <a:ext cx="5166360" cy="4754880"/>
          </a:xfrm>
          <a:prstGeom prst="roundRect">
            <a:avLst/>
          </a:prstGeom>
          <a:solidFill>
            <a:srgbClr val="121C30"/>
          </a:solidFill>
          <a:ln w="13970">
            <a:solidFill>
              <a:srgbClr val="2C3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5080" y="1097280"/>
            <a:ext cx="137160" cy="4754880"/>
          </a:xfrm>
          <a:prstGeom prst="round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261872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 Display"/>
              </a:rPr>
              <a:t>Why it is useful</a:t>
            </a:r>
          </a:p>
          <a:p>
            <a:pPr>
              <a:spcBef>
                <a:spcPts val="800"/>
              </a:spcBef>
              <a:defRPr sz="1200">
                <a:solidFill>
                  <a:srgbClr val="F5F8FC"/>
                </a:solidFill>
                <a:latin typeface="Aptos"/>
              </a:defRPr>
            </a:pPr>
            <a:r>
              <a:t>Quick personal health tracking without manual calculations.</a:t>
            </a:r>
          </a:p>
          <a:p>
            <a:pPr>
              <a:spcBef>
                <a:spcPts val="800"/>
              </a:spcBef>
              <a:defRPr sz="1200">
                <a:solidFill>
                  <a:srgbClr val="F5F8FC"/>
                </a:solidFill>
                <a:latin typeface="Aptos"/>
              </a:defRPr>
            </a:pPr>
            <a:r>
              <a:t>Visual progress makes habits easier to understand.</a:t>
            </a:r>
          </a:p>
          <a:p>
            <a:pPr>
              <a:spcBef>
                <a:spcPts val="800"/>
              </a:spcBef>
              <a:defRPr sz="1200">
                <a:solidFill>
                  <a:srgbClr val="F5F8FC"/>
                </a:solidFill>
                <a:latin typeface="Aptos"/>
              </a:defRPr>
            </a:pPr>
            <a:r>
              <a:t>Excel export helps with reporting and sharing.</a:t>
            </a:r>
          </a:p>
          <a:p>
            <a:pPr>
              <a:spcBef>
                <a:spcPts val="800"/>
              </a:spcBef>
              <a:defRPr sz="1200">
                <a:solidFill>
                  <a:srgbClr val="F5F8FC"/>
                </a:solidFill>
                <a:latin typeface="Aptos"/>
              </a:defRPr>
            </a:pPr>
            <a:r>
              <a:t>Works as a lightweight browser-based dashboard.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355080"/>
            <a:ext cx="11155680" cy="18288"/>
          </a:xfrm>
          <a:prstGeom prst="rect">
            <a:avLst/>
          </a:prstGeom>
          <a:solidFill>
            <a:srgbClr val="283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6C2D0"/>
                </a:solidFill>
                <a:latin typeface="Aptos"/>
              </a:defRPr>
            </a:pPr>
            <a:r>
              <a:t>Health &amp; Fitness Tracker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40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Core Features</a:t>
            </a:r>
          </a:p>
          <a:p>
            <a:pPr>
              <a:spcBef>
                <a:spcPts val="400"/>
              </a:spcBef>
              <a:defRPr sz="1200">
                <a:solidFill>
                  <a:srgbClr val="B6C2D0"/>
                </a:solidFill>
                <a:latin typeface="Aptos"/>
              </a:defRPr>
            </a:pPr>
            <a:r>
              <a:t>Built for practical tracking and clean visualization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3474720" cy="1188720"/>
          </a:xfrm>
          <a:prstGeom prst="roundRect">
            <a:avLst/>
          </a:prstGeom>
          <a:solidFill>
            <a:srgbClr val="121C30"/>
          </a:solidFill>
          <a:ln>
            <a:solidFill>
              <a:srgbClr val="2C3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371600"/>
            <a:ext cx="411480" cy="411480"/>
          </a:xfrm>
          <a:prstGeom prst="ellipse">
            <a:avLst/>
          </a:prstGeom>
          <a:solidFill>
            <a:srgbClr val="40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307592"/>
            <a:ext cx="25603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100</a:t>
            </a:r>
          </a:p>
          <a:p>
            <a:pPr>
              <a:defRPr sz="1100">
                <a:solidFill>
                  <a:srgbClr val="B6C2D0"/>
                </a:solidFill>
                <a:latin typeface="Aptos"/>
              </a:defRPr>
            </a:pPr>
            <a:r>
              <a:t>Sample entries loaded on start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143000"/>
            <a:ext cx="3474720" cy="1188720"/>
          </a:xfrm>
          <a:prstGeom prst="roundRect">
            <a:avLst/>
          </a:prstGeom>
          <a:solidFill>
            <a:srgbClr val="121C30"/>
          </a:solidFill>
          <a:ln>
            <a:solidFill>
              <a:srgbClr val="2C3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0" y="1371600"/>
            <a:ext cx="411480" cy="411480"/>
          </a:xfrm>
          <a:prstGeom prst="ellipse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74920" y="1307592"/>
            <a:ext cx="25603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4</a:t>
            </a:r>
          </a:p>
          <a:p>
            <a:pPr>
              <a:defRPr sz="1100">
                <a:solidFill>
                  <a:srgbClr val="B6C2D0"/>
                </a:solidFill>
                <a:latin typeface="Aptos"/>
              </a:defRPr>
            </a:pPr>
            <a:r>
              <a:t>Live metric charts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143000"/>
            <a:ext cx="3474720" cy="1188720"/>
          </a:xfrm>
          <a:prstGeom prst="roundRect">
            <a:avLst/>
          </a:prstGeom>
          <a:solidFill>
            <a:srgbClr val="121C30"/>
          </a:solidFill>
          <a:ln>
            <a:solidFill>
              <a:srgbClr val="2C3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75320" y="1371600"/>
            <a:ext cx="411480" cy="411480"/>
          </a:xfrm>
          <a:prstGeom prst="ellipse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307592"/>
            <a:ext cx="25603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1-click</a:t>
            </a:r>
          </a:p>
          <a:p>
            <a:pPr>
              <a:defRPr sz="1100">
                <a:solidFill>
                  <a:srgbClr val="B6C2D0"/>
                </a:solidFill>
                <a:latin typeface="Aptos"/>
              </a:defRPr>
            </a:pPr>
            <a:r>
              <a:t>Excel export / update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651760"/>
            <a:ext cx="5303520" cy="3154680"/>
          </a:xfrm>
          <a:prstGeom prst="roundRect">
            <a:avLst/>
          </a:prstGeom>
          <a:solidFill>
            <a:srgbClr val="121C30"/>
          </a:solidFill>
          <a:ln w="13970">
            <a:solidFill>
              <a:srgbClr val="2C3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651760"/>
            <a:ext cx="137160" cy="3154680"/>
          </a:xfrm>
          <a:prstGeom prst="roundRect">
            <a:avLst/>
          </a:prstGeom>
          <a:solidFill>
            <a:srgbClr val="40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816352"/>
            <a:ext cx="48920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 Display"/>
              </a:rPr>
              <a:t>Automation</a:t>
            </a:r>
          </a:p>
          <a:p>
            <a:pPr>
              <a:spcBef>
                <a:spcPts val="800"/>
              </a:spcBef>
              <a:defRPr sz="1200">
                <a:solidFill>
                  <a:srgbClr val="F5F8FC"/>
                </a:solidFill>
                <a:latin typeface="Aptos"/>
              </a:defRPr>
            </a:pPr>
            <a:r>
              <a:t>Calories are derived from predefined calorie rates.</a:t>
            </a:r>
          </a:p>
          <a:p>
            <a:pPr>
              <a:spcBef>
                <a:spcPts val="800"/>
              </a:spcBef>
              <a:defRPr sz="1200">
                <a:solidFill>
                  <a:srgbClr val="F5F8FC"/>
                </a:solidFill>
                <a:latin typeface="Aptos"/>
              </a:defRPr>
            </a:pPr>
            <a:r>
              <a:t>Recovery percentage is capped at 100%.</a:t>
            </a:r>
          </a:p>
          <a:p>
            <a:pPr>
              <a:spcBef>
                <a:spcPts val="800"/>
              </a:spcBef>
              <a:defRPr sz="1200">
                <a:solidFill>
                  <a:srgbClr val="F5F8FC"/>
                </a:solidFill>
                <a:latin typeface="Aptos"/>
              </a:defRPr>
            </a:pPr>
            <a:r>
              <a:t>The table and charts refresh after each new entry.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651760"/>
            <a:ext cx="5303520" cy="3154680"/>
          </a:xfrm>
          <a:prstGeom prst="roundRect">
            <a:avLst/>
          </a:prstGeom>
          <a:solidFill>
            <a:srgbClr val="121C30"/>
          </a:solidFill>
          <a:ln w="13970">
            <a:solidFill>
              <a:srgbClr val="2C3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2651760"/>
            <a:ext cx="137160" cy="3154680"/>
          </a:xfrm>
          <a:prstGeom prst="round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816352"/>
            <a:ext cx="48920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 Display"/>
              </a:rPr>
              <a:t>User flow</a:t>
            </a:r>
          </a:p>
          <a:p>
            <a:pPr>
              <a:spcBef>
                <a:spcPts val="800"/>
              </a:spcBef>
              <a:defRPr sz="1200">
                <a:solidFill>
                  <a:srgbClr val="F5F8FC"/>
                </a:solidFill>
                <a:latin typeface="Aptos"/>
              </a:defRPr>
            </a:pPr>
            <a:r>
              <a:t>Pick a date and exercise.</a:t>
            </a:r>
          </a:p>
          <a:p>
            <a:pPr>
              <a:spcBef>
                <a:spcPts val="800"/>
              </a:spcBef>
              <a:defRPr sz="1200">
                <a:solidFill>
                  <a:srgbClr val="F5F8FC"/>
                </a:solidFill>
                <a:latin typeface="Aptos"/>
              </a:defRPr>
            </a:pPr>
            <a:r>
              <a:t>Enter duration, water, and sleep.</a:t>
            </a:r>
          </a:p>
          <a:p>
            <a:pPr>
              <a:spcBef>
                <a:spcPts val="800"/>
              </a:spcBef>
              <a:defRPr sz="1200">
                <a:solidFill>
                  <a:srgbClr val="F5F8FC"/>
                </a:solidFill>
                <a:latin typeface="Aptos"/>
              </a:defRPr>
            </a:pPr>
            <a:r>
              <a:t>Save the record and see charts update instantly.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355080"/>
            <a:ext cx="11155680" cy="18288"/>
          </a:xfrm>
          <a:prstGeom prst="rect">
            <a:avLst/>
          </a:prstGeom>
          <a:solidFill>
            <a:srgbClr val="283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6C2D0"/>
                </a:solidFill>
                <a:latin typeface="Aptos"/>
              </a:defRPr>
            </a:pPr>
            <a:r>
              <a:t>Health &amp; Fitness Tracker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40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How the Data Flows</a:t>
            </a:r>
          </a:p>
          <a:p>
            <a:pPr>
              <a:spcBef>
                <a:spcPts val="400"/>
              </a:spcBef>
              <a:defRPr sz="1200">
                <a:solidFill>
                  <a:srgbClr val="B6C2D0"/>
                </a:solidFill>
                <a:latin typeface="Aptos"/>
              </a:defRPr>
            </a:pPr>
            <a:r>
              <a:t>Simple input to visualization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2148840" cy="2057400"/>
          </a:xfrm>
          <a:prstGeom prst="roundRect">
            <a:avLst/>
          </a:prstGeom>
          <a:solidFill>
            <a:srgbClr val="121C30"/>
          </a:solidFill>
          <a:ln>
            <a:solidFill>
              <a:srgbClr val="2C3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34440" y="2148840"/>
            <a:ext cx="777240" cy="777240"/>
          </a:xfrm>
          <a:prstGeom prst="ellipse">
            <a:avLst/>
          </a:prstGeom>
          <a:solidFill>
            <a:srgbClr val="40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Input</a:t>
            </a:r>
          </a:p>
          <a:p>
            <a:pPr algn="ctr">
              <a:defRPr sz="1000">
                <a:solidFill>
                  <a:srgbClr val="B6C2D0"/>
                </a:solidFill>
                <a:latin typeface="Aptos"/>
              </a:defRPr>
            </a:pPr>
            <a:r>
              <a:t>User enters workout and lifestyle values</a:t>
            </a:r>
          </a:p>
        </p:txBody>
      </p:sp>
      <p:sp>
        <p:nvSpPr>
          <p:cNvPr id="7" name="Chevron 6"/>
          <p:cNvSpPr/>
          <p:nvPr/>
        </p:nvSpPr>
        <p:spPr>
          <a:xfrm>
            <a:off x="2761488" y="2697480"/>
            <a:ext cx="384048" cy="384048"/>
          </a:xfrm>
          <a:prstGeom prst="chevron">
            <a:avLst/>
          </a:prstGeom>
          <a:solidFill>
            <a:srgbClr val="B6C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88920" y="1920240"/>
            <a:ext cx="2148840" cy="2057400"/>
          </a:xfrm>
          <a:prstGeom prst="roundRect">
            <a:avLst/>
          </a:prstGeom>
          <a:solidFill>
            <a:srgbClr val="121C30"/>
          </a:solidFill>
          <a:ln>
            <a:solidFill>
              <a:srgbClr val="2C3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0" y="2148840"/>
            <a:ext cx="777240" cy="777240"/>
          </a:xfrm>
          <a:prstGeom prst="ellipse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301752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Calculate</a:t>
            </a:r>
          </a:p>
          <a:p>
            <a:pPr algn="ctr">
              <a:defRPr sz="1000">
                <a:solidFill>
                  <a:srgbClr val="B6C2D0"/>
                </a:solidFill>
                <a:latin typeface="Aptos"/>
              </a:defRPr>
            </a:pPr>
            <a:r>
              <a:t>Calories and recovery are computed automatically</a:t>
            </a:r>
          </a:p>
        </p:txBody>
      </p:sp>
      <p:sp>
        <p:nvSpPr>
          <p:cNvPr id="11" name="Chevron 10"/>
          <p:cNvSpPr/>
          <p:nvPr/>
        </p:nvSpPr>
        <p:spPr>
          <a:xfrm>
            <a:off x="5001768" y="2697480"/>
            <a:ext cx="384048" cy="384048"/>
          </a:xfrm>
          <a:prstGeom prst="chevron">
            <a:avLst/>
          </a:prstGeom>
          <a:solidFill>
            <a:srgbClr val="B6C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0" y="1920240"/>
            <a:ext cx="2148840" cy="2057400"/>
          </a:xfrm>
          <a:prstGeom prst="roundRect">
            <a:avLst/>
          </a:prstGeom>
          <a:solidFill>
            <a:srgbClr val="121C30"/>
          </a:solidFill>
          <a:ln>
            <a:solidFill>
              <a:srgbClr val="2C3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15000" y="2148840"/>
            <a:ext cx="777240" cy="777240"/>
          </a:xfrm>
          <a:prstGeom prst="ellipse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301752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Store</a:t>
            </a:r>
          </a:p>
          <a:p>
            <a:pPr algn="ctr">
              <a:defRPr sz="1000">
                <a:solidFill>
                  <a:srgbClr val="B6C2D0"/>
                </a:solidFill>
                <a:latin typeface="Aptos"/>
              </a:defRPr>
            </a:pPr>
            <a:r>
              <a:t>Record is pushed into the entries array and table</a:t>
            </a:r>
          </a:p>
        </p:txBody>
      </p:sp>
      <p:sp>
        <p:nvSpPr>
          <p:cNvPr id="15" name="Chevron 14"/>
          <p:cNvSpPr/>
          <p:nvPr/>
        </p:nvSpPr>
        <p:spPr>
          <a:xfrm>
            <a:off x="7242048" y="2697480"/>
            <a:ext cx="384048" cy="384048"/>
          </a:xfrm>
          <a:prstGeom prst="chevron">
            <a:avLst/>
          </a:prstGeom>
          <a:solidFill>
            <a:srgbClr val="B6C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269480" y="1920240"/>
            <a:ext cx="2148840" cy="2057400"/>
          </a:xfrm>
          <a:prstGeom prst="roundRect">
            <a:avLst/>
          </a:prstGeom>
          <a:solidFill>
            <a:srgbClr val="121C30"/>
          </a:solidFill>
          <a:ln>
            <a:solidFill>
              <a:srgbClr val="2C3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955279" y="2148840"/>
            <a:ext cx="777240" cy="777240"/>
          </a:xfrm>
          <a:prstGeom prst="ellipse">
            <a:avLst/>
          </a:prstGeom>
          <a:solidFill>
            <a:srgbClr val="FFD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301752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Visualize</a:t>
            </a:r>
          </a:p>
          <a:p>
            <a:pPr algn="ctr">
              <a:defRPr sz="1000">
                <a:solidFill>
                  <a:srgbClr val="B6C2D0"/>
                </a:solidFill>
                <a:latin typeface="Aptos"/>
              </a:defRPr>
            </a:pPr>
            <a:r>
              <a:t>Charts redraw from the latest data</a:t>
            </a:r>
          </a:p>
        </p:txBody>
      </p:sp>
      <p:sp>
        <p:nvSpPr>
          <p:cNvPr id="19" name="Chevron 18"/>
          <p:cNvSpPr/>
          <p:nvPr/>
        </p:nvSpPr>
        <p:spPr>
          <a:xfrm>
            <a:off x="9482328" y="2697480"/>
            <a:ext cx="384048" cy="384048"/>
          </a:xfrm>
          <a:prstGeom prst="chevron">
            <a:avLst/>
          </a:prstGeom>
          <a:solidFill>
            <a:srgbClr val="B6C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509760" y="1920240"/>
            <a:ext cx="2148840" cy="2057400"/>
          </a:xfrm>
          <a:prstGeom prst="roundRect">
            <a:avLst/>
          </a:prstGeom>
          <a:solidFill>
            <a:srgbClr val="121C30"/>
          </a:solidFill>
          <a:ln>
            <a:solidFill>
              <a:srgbClr val="2C3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95560" y="2148840"/>
            <a:ext cx="777240" cy="777240"/>
          </a:xfrm>
          <a:prstGeom prst="ellipse">
            <a:avLst/>
          </a:prstGeom>
          <a:solidFill>
            <a:srgbClr val="A9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301752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Export</a:t>
            </a:r>
          </a:p>
          <a:p>
            <a:pPr algn="ctr">
              <a:defRPr sz="1000">
                <a:solidFill>
                  <a:srgbClr val="B6C2D0"/>
                </a:solidFill>
                <a:latin typeface="Aptos"/>
              </a:defRPr>
            </a:pPr>
            <a:r>
              <a:t>Workbook is created for Excel download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355080"/>
            <a:ext cx="11155680" cy="18288"/>
          </a:xfrm>
          <a:prstGeom prst="rect">
            <a:avLst/>
          </a:prstGeom>
          <a:solidFill>
            <a:srgbClr val="283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6C2D0"/>
                </a:solidFill>
                <a:latin typeface="Aptos"/>
              </a:defRPr>
            </a:pPr>
            <a:r>
              <a:t>Health &amp; Fitness Tracker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40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Tech Stack</a:t>
            </a:r>
          </a:p>
          <a:p>
            <a:pPr>
              <a:spcBef>
                <a:spcPts val="400"/>
              </a:spcBef>
              <a:defRPr sz="1200">
                <a:solidFill>
                  <a:srgbClr val="B6C2D0"/>
                </a:solidFill>
                <a:latin typeface="Aptos"/>
              </a:defRPr>
            </a:pPr>
            <a:r>
              <a:t>Lightweight, browser-friendly, and Excel-ready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383280" cy="4526280"/>
          </a:xfrm>
          <a:prstGeom prst="roundRect">
            <a:avLst/>
          </a:prstGeom>
          <a:solidFill>
            <a:srgbClr val="121C30"/>
          </a:solidFill>
          <a:ln w="13970">
            <a:solidFill>
              <a:srgbClr val="2C3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137160" cy="4526280"/>
          </a:xfrm>
          <a:prstGeom prst="roundRect">
            <a:avLst/>
          </a:prstGeom>
          <a:solidFill>
            <a:srgbClr val="40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99032"/>
            <a:ext cx="29718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 Display"/>
              </a:rPr>
              <a:t>Frontend</a:t>
            </a:r>
          </a:p>
          <a:p>
            <a:pPr>
              <a:spcBef>
                <a:spcPts val="800"/>
              </a:spcBef>
              <a:defRPr sz="1200">
                <a:solidFill>
                  <a:srgbClr val="F5F8FC"/>
                </a:solidFill>
                <a:latin typeface="Aptos"/>
              </a:defRPr>
            </a:pPr>
            <a:r>
              <a:t>HTML for structure</a:t>
            </a:r>
          </a:p>
          <a:p>
            <a:pPr>
              <a:spcBef>
                <a:spcPts val="800"/>
              </a:spcBef>
              <a:defRPr sz="1200">
                <a:solidFill>
                  <a:srgbClr val="F5F8FC"/>
                </a:solidFill>
                <a:latin typeface="Aptos"/>
              </a:defRPr>
            </a:pPr>
            <a:r>
              <a:t>CSS for visual styling</a:t>
            </a:r>
          </a:p>
          <a:p>
            <a:pPr>
              <a:spcBef>
                <a:spcPts val="800"/>
              </a:spcBef>
              <a:defRPr sz="1200">
                <a:solidFill>
                  <a:srgbClr val="F5F8FC"/>
                </a:solidFill>
                <a:latin typeface="Aptos"/>
              </a:defRPr>
            </a:pPr>
            <a:r>
              <a:t>JavaScript for interaction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34440"/>
            <a:ext cx="3383280" cy="4526280"/>
          </a:xfrm>
          <a:prstGeom prst="roundRect">
            <a:avLst/>
          </a:prstGeom>
          <a:solidFill>
            <a:srgbClr val="121C30"/>
          </a:solidFill>
          <a:ln w="13970">
            <a:solidFill>
              <a:srgbClr val="2C3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137160" cy="4526280"/>
          </a:xfrm>
          <a:prstGeom prst="round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399032"/>
            <a:ext cx="29718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 Display"/>
              </a:rPr>
              <a:t>Visualization</a:t>
            </a:r>
          </a:p>
          <a:p>
            <a:pPr>
              <a:spcBef>
                <a:spcPts val="800"/>
              </a:spcBef>
              <a:defRPr sz="1200">
                <a:solidFill>
                  <a:srgbClr val="F5F8FC"/>
                </a:solidFill>
                <a:latin typeface="Aptos"/>
              </a:defRPr>
            </a:pPr>
            <a:r>
              <a:t>Chart.js for line charts</a:t>
            </a:r>
          </a:p>
          <a:p>
            <a:pPr>
              <a:spcBef>
                <a:spcPts val="800"/>
              </a:spcBef>
              <a:defRPr sz="1200">
                <a:solidFill>
                  <a:srgbClr val="F5F8FC"/>
                </a:solidFill>
                <a:latin typeface="Aptos"/>
              </a:defRPr>
            </a:pPr>
            <a:r>
              <a:t>Responsive canvas areas</a:t>
            </a:r>
          </a:p>
          <a:p>
            <a:pPr>
              <a:spcBef>
                <a:spcPts val="800"/>
              </a:spcBef>
              <a:defRPr sz="1200">
                <a:solidFill>
                  <a:srgbClr val="F5F8FC"/>
                </a:solidFill>
                <a:latin typeface="Aptos"/>
              </a:defRPr>
            </a:pPr>
            <a:r>
              <a:t>Dynamic chart refresh on data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234440"/>
            <a:ext cx="3383280" cy="4526280"/>
          </a:xfrm>
          <a:prstGeom prst="roundRect">
            <a:avLst/>
          </a:prstGeom>
          <a:solidFill>
            <a:srgbClr val="121C30"/>
          </a:solidFill>
          <a:ln w="13970">
            <a:solidFill>
              <a:srgbClr val="2C3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38160" y="1234440"/>
            <a:ext cx="137160" cy="4526280"/>
          </a:xfrm>
          <a:prstGeom prst="round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399032"/>
            <a:ext cx="29718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 Display"/>
              </a:rPr>
              <a:t>Data Export</a:t>
            </a:r>
          </a:p>
          <a:p>
            <a:pPr>
              <a:spcBef>
                <a:spcPts val="800"/>
              </a:spcBef>
              <a:defRPr sz="1200">
                <a:solidFill>
                  <a:srgbClr val="F5F8FC"/>
                </a:solidFill>
                <a:latin typeface="Aptos"/>
              </a:defRPr>
            </a:pPr>
            <a:r>
              <a:t>ExcelJS to generate workbooks</a:t>
            </a:r>
          </a:p>
          <a:p>
            <a:pPr>
              <a:spcBef>
                <a:spcPts val="800"/>
              </a:spcBef>
              <a:defRPr sz="1200">
                <a:solidFill>
                  <a:srgbClr val="F5F8FC"/>
                </a:solidFill>
                <a:latin typeface="Aptos"/>
              </a:defRPr>
            </a:pPr>
            <a:r>
              <a:t>Separate sheets for data, charts, and summary</a:t>
            </a:r>
          </a:p>
          <a:p>
            <a:pPr>
              <a:spcBef>
                <a:spcPts val="800"/>
              </a:spcBef>
              <a:defRPr sz="1200">
                <a:solidFill>
                  <a:srgbClr val="F5F8FC"/>
                </a:solidFill>
                <a:latin typeface="Aptos"/>
              </a:defRPr>
            </a:pPr>
            <a:r>
              <a:t>Downloadable .xlsx output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355080"/>
            <a:ext cx="11155680" cy="18288"/>
          </a:xfrm>
          <a:prstGeom prst="rect">
            <a:avLst/>
          </a:prstGeom>
          <a:solidFill>
            <a:srgbClr val="283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6C2D0"/>
                </a:solidFill>
                <a:latin typeface="Aptos"/>
              </a:defRPr>
            </a:pPr>
            <a:r>
              <a:t>Health &amp; Fitness Tracker |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40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Project Impact</a:t>
            </a:r>
          </a:p>
          <a:p>
            <a:pPr>
              <a:spcBef>
                <a:spcPts val="400"/>
              </a:spcBef>
              <a:defRPr sz="1200">
                <a:solidFill>
                  <a:srgbClr val="B6C2D0"/>
                </a:solidFill>
                <a:latin typeface="Aptos"/>
              </a:defRPr>
            </a:pPr>
            <a:r>
              <a:t>Useful for both personal tracking and demo purposes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120640" cy="1417320"/>
          </a:xfrm>
          <a:prstGeom prst="roundRect">
            <a:avLst/>
          </a:prstGeom>
          <a:solidFill>
            <a:srgbClr val="121C30"/>
          </a:solidFill>
          <a:ln>
            <a:solidFill>
              <a:srgbClr val="2C3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1554480"/>
            <a:ext cx="411480" cy="411480"/>
          </a:xfrm>
          <a:prstGeom prst="ellipse">
            <a:avLst/>
          </a:prstGeom>
          <a:solidFill>
            <a:srgbClr val="40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490472"/>
            <a:ext cx="420624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Automatic</a:t>
            </a:r>
          </a:p>
          <a:p>
            <a:pPr>
              <a:defRPr sz="1100">
                <a:solidFill>
                  <a:srgbClr val="B6C2D0"/>
                </a:solidFill>
                <a:latin typeface="Aptos"/>
              </a:defRPr>
            </a:pPr>
            <a:r>
              <a:t>Removes repeated manual calculation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325880"/>
            <a:ext cx="5120640" cy="1417320"/>
          </a:xfrm>
          <a:prstGeom prst="roundRect">
            <a:avLst/>
          </a:prstGeom>
          <a:solidFill>
            <a:srgbClr val="121C30"/>
          </a:solidFill>
          <a:ln>
            <a:solidFill>
              <a:srgbClr val="2C3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83680" y="1554480"/>
            <a:ext cx="411480" cy="411480"/>
          </a:xfrm>
          <a:prstGeom prst="ellipse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0" y="1490472"/>
            <a:ext cx="420624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Visual</a:t>
            </a:r>
          </a:p>
          <a:p>
            <a:pPr>
              <a:defRPr sz="1100">
                <a:solidFill>
                  <a:srgbClr val="B6C2D0"/>
                </a:solidFill>
                <a:latin typeface="Aptos"/>
              </a:defRPr>
            </a:pPr>
            <a:r>
              <a:t>Turns raw numbers into easy trends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10744200" cy="2468880"/>
          </a:xfrm>
          <a:prstGeom prst="roundRect">
            <a:avLst/>
          </a:prstGeom>
          <a:solidFill>
            <a:srgbClr val="121C30"/>
          </a:solidFill>
          <a:ln w="13970">
            <a:solidFill>
              <a:srgbClr val="2C3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017520"/>
            <a:ext cx="137160" cy="2468880"/>
          </a:xfrm>
          <a:prstGeom prst="round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182112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 Display"/>
              </a:rPr>
              <a:t>Best use cases</a:t>
            </a:r>
          </a:p>
          <a:p>
            <a:pPr>
              <a:spcBef>
                <a:spcPts val="800"/>
              </a:spcBef>
              <a:defRPr sz="1200">
                <a:solidFill>
                  <a:srgbClr val="F5F8FC"/>
                </a:solidFill>
                <a:latin typeface="Aptos"/>
              </a:defRPr>
            </a:pPr>
            <a:r>
              <a:t>Personal fitness logging</a:t>
            </a:r>
          </a:p>
          <a:p>
            <a:pPr>
              <a:spcBef>
                <a:spcPts val="800"/>
              </a:spcBef>
              <a:defRPr sz="1200">
                <a:solidFill>
                  <a:srgbClr val="F5F8FC"/>
                </a:solidFill>
                <a:latin typeface="Aptos"/>
              </a:defRPr>
            </a:pPr>
            <a:r>
              <a:t>Student project presentation</a:t>
            </a:r>
          </a:p>
          <a:p>
            <a:pPr>
              <a:spcBef>
                <a:spcPts val="800"/>
              </a:spcBef>
              <a:defRPr sz="1200">
                <a:solidFill>
                  <a:srgbClr val="F5F8FC"/>
                </a:solidFill>
                <a:latin typeface="Aptos"/>
              </a:defRPr>
            </a:pPr>
            <a:r>
              <a:t>Excel-based reporting demo</a:t>
            </a:r>
          </a:p>
          <a:p>
            <a:pPr>
              <a:spcBef>
                <a:spcPts val="800"/>
              </a:spcBef>
              <a:defRPr sz="1200">
                <a:solidFill>
                  <a:srgbClr val="F5F8FC"/>
                </a:solidFill>
                <a:latin typeface="Aptos"/>
              </a:defRPr>
            </a:pPr>
            <a:r>
              <a:t>Simple wellness dashboard for quick review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355080"/>
            <a:ext cx="11155680" cy="18288"/>
          </a:xfrm>
          <a:prstGeom prst="rect">
            <a:avLst/>
          </a:prstGeom>
          <a:solidFill>
            <a:srgbClr val="283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6C2D0"/>
                </a:solidFill>
                <a:latin typeface="Aptos"/>
              </a:defRPr>
            </a:pPr>
            <a:r>
              <a:t>Health &amp; Fitness Tracker |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914400"/>
            <a:ext cx="10789920" cy="4937760"/>
          </a:xfrm>
          <a:prstGeom prst="roundRect">
            <a:avLst/>
          </a:prstGeom>
          <a:solidFill>
            <a:srgbClr val="0D1627"/>
          </a:solidFill>
          <a:ln>
            <a:solidFill>
              <a:srgbClr val="2C3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417320"/>
            <a:ext cx="9875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  <a:p>
            <a:pPr algn="ctr">
              <a:spcBef>
                <a:spcPts val="1000"/>
              </a:spcBef>
              <a:defRPr sz="1600">
                <a:solidFill>
                  <a:srgbClr val="F5F8FC"/>
                </a:solidFill>
                <a:latin typeface="Aptos"/>
              </a:defRPr>
            </a:pPr>
            <a:r>
              <a:t>Health &amp; Fitness Tracker is a clean, practical dashboard for tracking habits, visualizing progress, and exporting data to Excel.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77639" y="3749039"/>
            <a:ext cx="4297680" cy="658368"/>
          </a:xfrm>
          <a:prstGeom prst="roundRect">
            <a:avLst/>
          </a:prstGeom>
          <a:solidFill>
            <a:srgbClr val="40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60520" y="388620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latin typeface="Aptos"/>
              </a:defRPr>
            </a:pPr>
            <a:r>
              <a:t>Ready for presentation or 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55080"/>
            <a:ext cx="11155680" cy="18288"/>
          </a:xfrm>
          <a:prstGeom prst="rect">
            <a:avLst/>
          </a:prstGeom>
          <a:solidFill>
            <a:srgbClr val="283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6C2D0"/>
                </a:solidFill>
                <a:latin typeface="Aptos"/>
              </a:defRPr>
            </a:pPr>
            <a:r>
              <a:t>Health &amp; Fitness Tracker | Slide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